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ingFang SC"/>
              </a:rPr>
              <a:t>靶向"外周肺-中枢孤束核"神经免疫互作轴的</a:t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PingFang SC"/>
              </a:rPr>
              <a:t>流感后咳嗽机制及中药干预深度报告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0A020"/>
                </a:solidFill>
                <a:latin typeface="PingFang SC"/>
              </a:rPr>
              <a:t>项目开题汇报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DCDCDC"/>
                </a:solidFill>
                <a:latin typeface="PingFang SC"/>
              </a:rPr>
              <a:t>汇报人: xiuxiang  ·  2026-05-03</a:t>
            </a:r>
          </a:p>
          <a:p>
            <a:pPr algn="ctr"/>
            <a:r>
              <a:rPr sz="1400">
                <a:solidFill>
                  <a:srgbClr val="DCDCDC"/>
                </a:solidFill>
                <a:latin typeface="PingFang SC"/>
              </a:rPr>
              <a:t>数据: GSE42639 / GSE31022 / GSE161878 / GSE296065 / GSE268741</a:t>
            </a:r>
          </a:p>
          <a:p>
            <a:pPr algn="ctr"/>
            <a:r>
              <a:rPr sz="1400">
                <a:solidFill>
                  <a:srgbClr val="DCDCDC"/>
                </a:solidFill>
                <a:latin typeface="PingFang SC"/>
              </a:rPr>
              <a:t>         + CellChatDB.mouse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2 — 临床问题 + 神经免疫学范式转移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流感后慢性咳嗽 (Post-influenza chronic cough)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流感感染急性期过后 &gt;3 周持续咳嗽，临床困境长期未解；单纯抗病毒/镇咳治疗效果有限。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范式转移</a:t>
            </a:r>
            <a:r>
              <a:rPr sz="1400" b="0">
                <a:solidFill>
                  <a:srgbClr val="444444"/>
                </a:solidFill>
                <a:latin typeface="PingFang SC"/>
              </a:rPr>
              <a:t> — "气道局部炎症" → "</a:t>
            </a:r>
            <a:r>
              <a:rPr sz="1400" b="1">
                <a:solidFill>
                  <a:srgbClr val="1A3C6E"/>
                </a:solidFill>
                <a:latin typeface="PingFang SC"/>
              </a:rPr>
              <a:t>神经-免疫互作环路</a:t>
            </a:r>
            <a:r>
              <a:rPr sz="1400" b="0">
                <a:solidFill>
                  <a:srgbClr val="444444"/>
                </a:solidFill>
                <a:latin typeface="PingFang SC"/>
              </a:rPr>
              <a:t>"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旧范式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新范式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病毒清除后炎症残留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TRPV1+ vagal 感觉神经致敏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局部气道高反应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NTS Tac1+ 神经元中枢放大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单一靶点干预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"外周肺-迷走-脑干"轴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2004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本研究核心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系统刻画 Mo (Cx3cr1+) → vagus → NTS Tac1+/Cx3cr1+ 微胶质完整环路，定位中药多靶点干预节点。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3 — 核心假设：三段闭环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总命题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57432" cy="1097280"/>
          </a:xfrm>
          <a:prstGeom prst="rect">
            <a:avLst/>
          </a:prstGeom>
          <a:solidFill>
            <a:srgbClr val="F4F4F6"/>
          </a:solidFill>
          <a:ln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>
                <a:solidFill>
                  <a:srgbClr val="333355"/>
                </a:solidFill>
                <a:latin typeface="Menlo"/>
              </a:rPr>
              <a:t>外周肺 Cx3cr1+ Mo 保护轴失效  →  迷走神经 Cx3cl1 配体投射上传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                       ↓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NTS Tac1+ Vglut2+ 神经元 ←→ NTS Cx3cr1+ 微胶质双向通讯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                       ↓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                中枢咳嗽信号放大 → 慢性咳嗽病理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4688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信号轴中央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Cx3cl1-Cx3cr1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0"/>
            <a:ext cx="1145743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配体端 (Cx3cl1)</a:t>
            </a:r>
            <a:r>
              <a:rPr sz="1300" b="0">
                <a:solidFill>
                  <a:srgbClr val="444444"/>
                </a:solidFill>
                <a:latin typeface="PingFang SC"/>
              </a:rPr>
              <a:t>: vagus 节神经元 + NTS Tac1+ 神经元</a:t>
            </a:r>
          </a:p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受体端 (Cx3cr1)</a:t>
            </a:r>
            <a:r>
              <a:rPr sz="1300" b="0">
                <a:solidFill>
                  <a:srgbClr val="444444"/>
                </a:solidFill>
                <a:latin typeface="PingFang SC"/>
              </a:rPr>
              <a:t>: 外周肺 Mo + NTS 微胶质</a:t>
            </a:r>
          </a:p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双端崩塌</a:t>
            </a:r>
            <a:r>
              <a:rPr sz="1300" b="0">
                <a:solidFill>
                  <a:srgbClr val="444444"/>
                </a:solidFill>
                <a:latin typeface="PingFang SC"/>
              </a:rPr>
              <a:t>: Mo 端受体下调 (slope=−0.80) + Am 端配体下调 (slope=−0.60)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4 — 三级科学问题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假设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物理位置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待证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数据集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H1 外周诱发缺口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肺髓系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Cx3cr1+ Mo 数量/功能在感染剂量下崩塌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GSE42639, GSE31022, GSE296065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H2 神经传导桥梁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迷走神经节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vagus 端"受体丢失"+ Cx3cl1 配体上传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GSE161878 + CellChatDB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H3 中枢放大缺口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脑干 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Tac1+ 神经元 ↔ Cx3cr1+ 微胶质双向通讯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GSE268741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22860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三段闭环 → 三个干预节点 → 中药多靶点对应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5 — 总体技术路线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2926080"/>
          </a:xfrm>
          <a:prstGeom prst="rect">
            <a:avLst/>
          </a:prstGeom>
          <a:solidFill>
            <a:srgbClr val="F4F4F6"/>
          </a:solidFill>
          <a:ln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>
                <a:solidFill>
                  <a:srgbClr val="333355"/>
                </a:solidFill>
                <a:latin typeface="Menlo"/>
              </a:rPr>
              <a:t>[① 外周端]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GSE42639 (5 cells × 5 dose)  →  Mo 严选 564→58→17 高优先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 ↓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GSE31022 (D1-D6 跨毒株时序)  →  4 双标 (Gstm1/Dusp18/Insr/6430548M08Rik)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 ↓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GSE296065 (lung sc + RTX)    →  Cx3cr1 唯一通过 BH 双判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[② 神经传输]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GSE161878 (vagus bulk)       →  144 上 / 10 下 (含 Gpr151 nociceptor)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 +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CellChatDB v3 反向            →  Cx3cl1 → Cx3cr1, prob=0.426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[③ 中枢端]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GSE268741 (NTS sc, 5 模块)   →  Tac1+ ↔ Cx3cr1+ 双向, LR prob=0.602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                         Tac1+ 排他性 4 维度第一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6 — 数据资源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5743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8"/>
              </a:tblGrid>
              <a:tr h="333102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数据集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类型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用途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样本量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假设链中的角色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33102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GSE42639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Illumina BeadChip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5 细胞 × 5 H1N1 剂量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75 (Mo 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H1 主筛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GSE31022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Illumina BeadChip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H1N1 D1-D6 时序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H1 跨毒株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GSE161878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RNA-seq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vagus IAV vs Mock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21 (剔 D-suffix)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H2 主筛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GSE296065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scRNA (Seurat)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lung 22 cells + RTX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37,543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H1 单细胞 + 药理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GSE268741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scRNA (10x)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NTS 神经-免疫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9,638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H3 中枢端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8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CellChatDB.mouse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配-受体库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LR 配对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2019 LR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H2 桥接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7 — 分析 1: 5 细胞 × 4 contrasts DEG (对照实验)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方法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limma + eBayes + BH | </a:t>
            </a:r>
            <a:r>
              <a:rPr sz="1400" b="1">
                <a:solidFill>
                  <a:srgbClr val="1A3C6E"/>
                </a:solidFill>
                <a:latin typeface="PingFang SC"/>
              </a:rPr>
              <a:t>阈值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FDR&lt;0.05 &amp; |log2FC|≥1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57432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572"/>
                <a:gridCol w="1909572"/>
                <a:gridCol w="1909572"/>
                <a:gridCol w="1909572"/>
                <a:gridCol w="1909572"/>
                <a:gridCol w="1909572"/>
              </a:tblGrid>
              <a:tr h="335279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Cell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TX91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PR8 0.6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PR8 10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PR8 100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总和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35279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1317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1551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1788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5029</a:t>
                      </a:r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2986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2809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2402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4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383279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Mo 在所有 4 个 contrasts 全部第一</a:t>
            </a:r>
            <a:r>
              <a:rPr sz="1400" b="0">
                <a:solidFill>
                  <a:srgbClr val="444444"/>
                </a:solidFill>
                <a:latin typeface="PingFang SC"/>
              </a:rPr>
              <a:t>, 领先第 2 名 1.5×–2.7×。</a:t>
            </a:r>
          </a:p>
        </p:txBody>
      </p:sp>
      <p:pic>
        <p:nvPicPr>
          <p:cNvPr id="6" name="Picture 5" descr="analysis1_5cell_DEG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40479"/>
            <a:ext cx="11457432" cy="26517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8 — 分析 2: Mo 剂量依赖 DEG 单调验证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目的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验证 Mo 应答规模随感染剂量 </a:t>
            </a:r>
            <a:r>
              <a:rPr sz="1400" b="1">
                <a:solidFill>
                  <a:srgbClr val="1A3C6E"/>
                </a:solidFill>
                <a:latin typeface="PingFang SC"/>
              </a:rPr>
              <a:t>严格单调递增</a:t>
            </a:r>
            <a:r>
              <a:rPr sz="1400" b="0">
                <a:solidFill>
                  <a:srgbClr val="444444"/>
                </a:solidFill>
                <a:latin typeface="PingFang SC"/>
              </a:rPr>
              <a:t> → 锁定"剂量响应感受器"。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572"/>
                <a:gridCol w="1909572"/>
                <a:gridCol w="1909572"/>
                <a:gridCol w="1909572"/>
                <a:gridCol w="1909572"/>
                <a:gridCol w="1909572"/>
              </a:tblGrid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指标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TX91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PR8 0.6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PR8 10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PR8 100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单调?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总 DEG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✓ 严格递增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✓ 严格递增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✓ 严格递增 (16× 跨度)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7432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Down 增幅最大</a:t>
            </a:r>
            <a:r>
              <a:rPr sz="1400" b="0">
                <a:solidFill>
                  <a:srgbClr val="444444"/>
                </a:solidFill>
                <a:latin typeface="PingFang SC"/>
              </a:rPr>
              <a:t> (52→823, 16×) → 与 "重症崩塌" 假设逻辑闭环。</a:t>
            </a:r>
          </a:p>
        </p:txBody>
      </p:sp>
      <p:pic>
        <p:nvPicPr>
          <p:cNvPr id="6" name="Picture 5" descr="analysis2_Mo_dose_DEG_line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0"/>
            <a:ext cx="1145743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9 — Mo 保护性靶点严选: 5 步 + 严选叠加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生物学定义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"TX91 轻症维持 → PR8 剂量上升持续下降 → 100LD50 显著崩塌"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5743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/>
                <a:gridCol w="3819144"/>
                <a:gridCol w="3819144"/>
              </a:tblGrid>
              <a:tr h="3302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步骤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模型 / 阈值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累计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302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起始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探针注释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16,005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Step 1 趋势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slope&lt;0 &amp; FDR&lt;0.10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Step 2 崩塌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PR8_100 vs TX91 log2FC≤−0.585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Step 3 基础表达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TX91 mean ≥ 全基因中位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Step 4 反向假阳剔除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Step 5 排已下调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剔 TX91 vs Sham 已下调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Step A 阶梯下降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PR8_0.6 + PR8_10 严判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Step B 黑/白名单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剔 7 纯代谢酶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58 严选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10 — 17 高优先候选 + 4 跨毒株双标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17 高优先候选</a:t>
            </a:r>
            <a:r>
              <a:rPr sz="1400" b="0">
                <a:solidFill>
                  <a:srgbClr val="444444"/>
                </a:solidFill>
                <a:latin typeface="PingFang SC"/>
              </a:rPr>
              <a:t> (炎症/免疫调控): `Cx3cr1`, `Klf2`, `Arrb1`, `Abcd2`, `Mbp`, `Il16`, `Cd177`, `Rasgrp2`, `Rnf144a`, `Bcl11a`, `Btla`, `Cd209a`, `Rnase2b`, `Ampd3`, `Rasgrp4`, `Dock8`, `Rin3`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4 双标基因</a:t>
            </a:r>
            <a:r>
              <a:rPr sz="1400" b="0">
                <a:solidFill>
                  <a:srgbClr val="444444"/>
                </a:solidFill>
                <a:latin typeface="PingFang SC"/>
              </a:rPr>
              <a:t> (GSE31022 D1-D6 跨毒株时序最稳健):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1145743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基因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best logFC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slope (D1-D6)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功能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Gstm1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−2.67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−0.426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谷胱甘肽 S-转移酶, 抗氧化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Dusp18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−1.25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−0.352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MAPK 通路负调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Insr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−0.63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−0.151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胰岛素受体 / SignalTransduction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6430548M08Rik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−0.69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−0.146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RIKEN cDNA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520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Cx3cr1 / Gstm1 / Dusp18</a:t>
            </a:r>
            <a:r>
              <a:rPr sz="1400" b="0">
                <a:solidFill>
                  <a:srgbClr val="444444"/>
                </a:solidFill>
                <a:latin typeface="PingFang SC"/>
              </a:rPr>
              <a:t> 三个核心靶点 → 对应莲花清瘟多靶点干预（Slide 18）。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11 — 跨系统导火桥梁: vagus DESeq2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GSE161878 — 迷走神经节 IAV vs Mock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关键修复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AM312D/313D/314D 是同动物技术重复 → 主分析剔除 (11+10) → </a:t>
            </a:r>
            <a:r>
              <a:rPr sz="1400" b="1">
                <a:solidFill>
                  <a:srgbClr val="1A3C6E"/>
                </a:solidFill>
                <a:latin typeface="PingFang SC"/>
              </a:rPr>
              <a:t>144 上 / 10 下</a:t>
            </a:r>
            <a:r>
              <a:rPr sz="1400" b="0">
                <a:solidFill>
                  <a:srgbClr val="444444"/>
                </a:solidFill>
                <a:latin typeface="PingFang SC"/>
              </a:rPr>
              <a:t>。含 D 版 343/122 仅 32% 一致 → 同动物伪重复污染必须剔除。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上调主程序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1145743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髓系浸润: `Ly6c2`, `Tyrobp`, `Cybb`, `Mpeg1`, `Ctss`, `Fcgr1/4`</a:t>
            </a:r>
          </a:p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MHC-II 抗原呈递: `H2-Aa`, `H2-Q7`, `Cd74`</a:t>
            </a:r>
          </a:p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Type I IFN 抗病毒: `Oasl2`, `Cxcl9`, `Cfb`, `Tlr2`, `Ubd`</a:t>
            </a:r>
          </a:p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★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Gpr151</a:t>
            </a:r>
            <a:r>
              <a:rPr sz="1300" b="0">
                <a:solidFill>
                  <a:srgbClr val="444444"/>
                </a:solidFill>
                <a:latin typeface="PingFang SC"/>
              </a:rPr>
              <a:t> (vagal nociceptor 标志, FDR=1.7e−4)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599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下调 (10 个)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神经元结构/突触维持基因 → 神经元稳态损伤。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12 — CellChat 通讯 (3 次迭代 → 反向方向修正)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版本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方向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命中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状态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v1 严判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Mo → Vagus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受体 (Tnfrsf14/Cd4) 在 vagus 21/21 样本 CPM&lt;1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v2 放宽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神经元区室受体池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v3 反向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Vagal Cx3cl1 → Mo Cx3cr1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prob=0.426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强命中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22860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关键发现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1145743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vagus Cx3cl1 CPM 2.5–8.5,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21/21 样本固有表达</a:t>
            </a:r>
            <a:r>
              <a:rPr sz="1300" b="0">
                <a:solidFill>
                  <a:srgbClr val="444444"/>
                </a:solidFill>
                <a:latin typeface="PingFang SC"/>
              </a:rPr>
              <a:t> (IAV 不上调, 是固有信号源)</a:t>
            </a:r>
          </a:p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Mo Cx3cr1 重症崩塌 slope=−0.80 → 受体端故障</a:t>
            </a:r>
          </a:p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双数据集独立支持: NTS sc 模块 4 也得到 Cx3cl1→Cx3cr1 prob=0.602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86199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44444"/>
                </a:solidFill>
                <a:latin typeface="PingFang SC"/>
              </a:rPr>
              <a:t>⚠️ </a:t>
            </a:r>
            <a:r>
              <a:rPr sz="1400" b="1">
                <a:solidFill>
                  <a:srgbClr val="1A3C6E"/>
                </a:solidFill>
                <a:latin typeface="PingFang SC"/>
              </a:rPr>
              <a:t>诚实标注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v1→v3 是 post-hoc refinement, 论文 Methods 必按时间顺序写; 建议补 vagal Cx3cl1 蛋白染色 (IHC) 独立验证。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13 — NTS 中枢端: GSE268741 5 模块 (模块 1-3)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模块 1 — 分群 + 子集分选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5743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输入: 31 xlsx → sparse 33,696 × 9,638</a:t>
            </a:r>
          </a:p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QC: 6,468 cells 通过, 22 簇</a:t>
            </a:r>
          </a:p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关键子集</a:t>
            </a:r>
            <a:r>
              <a:rPr sz="1300" b="0">
                <a:solidFill>
                  <a:srgbClr val="444444"/>
                </a:solidFill>
                <a:latin typeface="PingFang SC"/>
              </a:rPr>
              <a:t>: Tac1+ Vglut2+ 兴奋性神经元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212 cells</a:t>
            </a:r>
            <a:r>
              <a:rPr sz="1300" b="0">
                <a:solidFill>
                  <a:srgbClr val="444444"/>
                </a:solidFill>
                <a:latin typeface="PingFang SC"/>
              </a:rPr>
              <a:t>, Cx3cr1+ 微胶质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215 cells</a:t>
            </a:r>
            <a:r>
              <a:rPr sz="1300" b="0">
                <a:solidFill>
                  <a:srgbClr val="444444"/>
                </a:solidFill>
                <a:latin typeface="PingFang SC"/>
              </a:rPr>
              <a:t>, 其它神经元 2,472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423159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模块 2 — Tac1+ marker 富集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80359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FindMarkers Tac1+ vs Others: 506 上 / 310 下</a:t>
            </a:r>
          </a:p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GO BP: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74 通路 FDR&lt;0.05</a:t>
            </a:r>
            <a:r>
              <a:rPr sz="1300" b="0">
                <a:solidFill>
                  <a:srgbClr val="444444"/>
                </a:solidFill>
                <a:latin typeface="PingFang SC"/>
              </a:rPr>
              <a:t> (突触兴奋性 / 谷氨酸 / 痛觉传递)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0331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模块 3 — 跨数据集通路一致性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6051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0A020"/>
                </a:solidFill>
                <a:latin typeface="PingFang SC"/>
              </a:rPr>
              <a:t>▸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vagal vs Tac1+ marker: 4 共享 secretion 通路 + Lck 共享 signaling 基因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14 — NTS 模块 4+5: LR 互作 + Tac1+ 排他性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模块 4 — 神经-免疫双向 LR 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/>
                <a:gridCol w="3819144"/>
                <a:gridCol w="3819144"/>
              </a:tblGrid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LR 方向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强度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含义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Cx3cl1 → Cx3cr1</a:t>
                      </a:r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 (Tac1+ → 微胶质)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prob=0.602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中枢神经向微胶质投射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神经→免疫 (全)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227 LR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双向通讯网络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免疫→神经 (Tnfrsf1a + Ackr1 反馈)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135 LR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微胶质回馈细胞因子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7432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模块 5 — Tac1+ 排他性 4 维度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LR 互作强度 / 咳嗽通路富集 / Cx3cl1 表达 pct (69.3%) / Wilcox vs 其它 — </a:t>
            </a:r>
            <a:r>
              <a:rPr sz="1400" b="1">
                <a:solidFill>
                  <a:srgbClr val="1A3C6E"/>
                </a:solidFill>
                <a:latin typeface="PingFang SC"/>
              </a:rPr>
              <a:t>全部 Tac1+ 第一</a:t>
            </a:r>
            <a:r>
              <a:rPr sz="1400" b="0">
                <a:solidFill>
                  <a:srgbClr val="444444"/>
                </a:solidFill>
                <a:latin typeface="PingFang SC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44444"/>
                </a:solidFill>
                <a:latin typeface="PingFang SC"/>
              </a:rPr>
              <a:t>⚠️ </a:t>
            </a:r>
            <a:r>
              <a:rPr sz="1400" b="1">
                <a:solidFill>
                  <a:srgbClr val="1A3C6E"/>
                </a:solidFill>
                <a:latin typeface="PingFang SC"/>
              </a:rPr>
              <a:t>单 GSM 限制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9,638 cells 来自 1 GSM 样本, 严格意义上属 pseudoreplication; 论文必须明确标注 + </a:t>
            </a:r>
            <a:r>
              <a:rPr sz="1400" b="1">
                <a:solidFill>
                  <a:srgbClr val="1A3C6E"/>
                </a:solidFill>
                <a:latin typeface="PingFang SC"/>
              </a:rPr>
              <a:t>务必寻找第 2 份独立 NTS sc 数据</a:t>
            </a:r>
            <a:r>
              <a:rPr sz="1400" b="0">
                <a:solidFill>
                  <a:srgbClr val="444444"/>
                </a:solidFill>
                <a:latin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15 — 单细胞 RTX 救援: GSE296065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实验设计漏斗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57432" cy="731520"/>
          </a:xfrm>
          <a:prstGeom prst="rect">
            <a:avLst/>
          </a:prstGeom>
          <a:solidFill>
            <a:srgbClr val="F4F4F6"/>
          </a:solidFill>
          <a:ln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>
                <a:solidFill>
                  <a:srgbClr val="333355"/>
                </a:solidFill>
                <a:latin typeface="Menlo"/>
              </a:rPr>
              <a:t>58 严选 → 28 通过 specificity (Target vs BG, BH 校正)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  → 1 通过 BH 双判 (V7 vs R7 组间) ★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     └─ Cx3cr1: log2FC=0.86, FDR&lt;0.05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Cx3cr1 单细胞特征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56032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/>
                <a:gridCol w="3819144"/>
                <a:gridCol w="3819144"/>
              </a:tblGrid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指标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Target Mo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Background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pct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Specificity log2FC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2.62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RTX 救援 (V7 vs R7)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+0.86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0233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解读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RTX (TRPV1+ 神经阻断) → 外周 Mo Cx3cr1 表达回升 → 中枢→外周反馈被阻断后保护轴恢复; 28→1 漏斗 → </a:t>
            </a:r>
            <a:r>
              <a:rPr sz="1400" b="1">
                <a:solidFill>
                  <a:srgbClr val="1A3C6E"/>
                </a:solidFill>
                <a:latin typeface="PingFang SC"/>
              </a:rPr>
              <a:t>不能宣称"58 严选都是 RTX 靶点"</a:t>
            </a:r>
            <a:r>
              <a:rPr sz="1400" b="0">
                <a:solidFill>
                  <a:srgbClr val="444444"/>
                </a:solidFill>
                <a:latin typeface="PingFang SC"/>
              </a:rPr>
              <a:t>, 只 Cx3cr1 是核心枢纽。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16 — 完整机制链路 (6 节点闭环)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840480"/>
          </a:xfrm>
          <a:prstGeom prst="rect">
            <a:avLst/>
          </a:prstGeom>
          <a:solidFill>
            <a:srgbClr val="F4F4F6"/>
          </a:solidFill>
          <a:ln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>
                <a:solidFill>
                  <a:srgbClr val="333355"/>
                </a:solidFill>
                <a:latin typeface="Menlo"/>
              </a:rPr>
              <a:t>[① 外周肺]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肺 Mo Cx3cr1 受体 (TX91=9.88 → PR8_100=7.50, slope=−0.80)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↑                                   ↓ 保护轴失效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│                                   ↓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[② vagus]                          趋化/抗炎/稳态三轴下游下调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vagus Cx3cl1 (CPM 2.5–8.5,                (58 严选: 7+4+9 命中)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固有表达 21/21)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│ axonal projection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↓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[③ NTS]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NTS Tac1+ Vglut2+ 神经元 (212 cells)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│ Cx3cl1 释放 (pct 69.3%)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↓ prob=0.602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NTS Cx3cr1+ 微胶质 (215 cells)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│ 反馈 TNF/Cxcl10/Ccl2 (Tnfrsf1a + Ackr1)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↓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[④ Tac1+ 突触兴奋性] → 谷氨酸 + 痛觉传递通路 (74 GO BP)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│ vagal 投射回外周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       ↓</a:t>
            </a:r>
          </a:p>
          <a:p>
            <a:r>
              <a:rPr sz="1000">
                <a:solidFill>
                  <a:srgbClr val="333355"/>
                </a:solidFill>
                <a:latin typeface="Menlo"/>
              </a:rPr>
              <a:t>[⑤ 咳嗽病理]    [⑥ 中药节点: 莲花清瘟多靶点干预]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17 — 候选靶点优先级 (A/B/C 档)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A 档</a:t>
            </a:r>
            <a:r>
              <a:rPr sz="1400" b="0">
                <a:solidFill>
                  <a:srgbClr val="444444"/>
                </a:solidFill>
                <a:latin typeface="PingFang SC"/>
              </a:rPr>
              <a:t> (强证据 — 跨多数据集 + 机制清晰):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5743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/>
                <a:gridCol w="3819144"/>
                <a:gridCol w="3819144"/>
              </a:tblGrid>
              <a:tr h="35052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靶点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数据集贯穿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机制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5052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Cx3cr1</a:t>
                      </a:r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 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5 个数据集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RTX 救援唯一通过, slope=−0.80, 受体端枢纽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Cx3cl1</a:t>
                      </a:r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 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vagus + 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21/21 固有表达, NTS Tac1+ pct 69%, LR prob=0.602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4231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B 档</a:t>
            </a:r>
            <a:r>
              <a:rPr sz="1400" b="0">
                <a:solidFill>
                  <a:srgbClr val="444444"/>
                </a:solidFill>
                <a:latin typeface="PingFang SC"/>
              </a:rPr>
              <a:t> (多数据集证据): Klf2 / Arrb1 / Btla / Il16 / Cd209a — Mo 严选 + GSE31022 同向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803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C 档</a:t>
            </a:r>
            <a:r>
              <a:rPr sz="1400" b="0">
                <a:solidFill>
                  <a:srgbClr val="444444"/>
                </a:solidFill>
                <a:latin typeface="PingFang SC"/>
              </a:rPr>
              <a:t> (探索性): </a:t>
            </a:r>
            <a:r>
              <a:rPr sz="1400" b="1">
                <a:solidFill>
                  <a:srgbClr val="1A3C6E"/>
                </a:solidFill>
                <a:latin typeface="PingFang SC"/>
              </a:rPr>
              <a:t>Gstm1</a:t>
            </a:r>
            <a:r>
              <a:rPr sz="1400" b="0">
                <a:solidFill>
                  <a:srgbClr val="444444"/>
                </a:solidFill>
                <a:latin typeface="PingFang SC"/>
              </a:rPr>
              <a:t> (跨毒株 4 双标核心, 抗氧化) / Dusp18 / Insr / 6430548M08Rik / </a:t>
            </a:r>
            <a:r>
              <a:rPr sz="1400" b="1">
                <a:solidFill>
                  <a:srgbClr val="1A3C6E"/>
                </a:solidFill>
                <a:latin typeface="PingFang SC"/>
              </a:rPr>
              <a:t>Gpr151</a:t>
            </a:r>
            <a:r>
              <a:rPr sz="1400" b="0">
                <a:solidFill>
                  <a:srgbClr val="444444"/>
                </a:solidFill>
                <a:latin typeface="PingFang SC"/>
              </a:rPr>
              <a:t> (vagal nociceptor 标志, 与"咳嗽"主线契合)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18 — 中药多靶点干预: 莲花清瘟整合调控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核心病理节点 ↔ 莲花清瘟成分映射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5743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/>
                <a:gridCol w="3819144"/>
                <a:gridCol w="3819144"/>
              </a:tblGrid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中药学机制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对应肺感染病变节点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我们项目命中靶点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抗病毒 + 免疫调控 (黄芩苷/连翘苷)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病毒清除 + 抗炎调节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`H2-Aa`, `H2-Q7`, `Oasl2`, `Cxcl9`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抗氧化 (鱼腥草苷/GSH 通路)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氧化应激缓解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Gstm1</a:t>
                      </a:r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 ★ (4 双标核心)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抗炎细胞因子 (大黄素/TNF-α 抑制)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TNF/Cxcl 反馈链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`Tnfrsf1a`, `Ackr1`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神经-胶质细胞通讯调控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NTS Tac1+ ↔ Cx3cr1+ 微胶质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Cx3cr1 / Cx3cl1</a:t>
                      </a:r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063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核心干预假设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莲花清瘟 = 多靶点联合介入 H1+H2+H3 三段闭环; 不是单一抗病毒, 而是同时缓解外周 Mo 保护轴衰退 + vagus 端致敏 + 中枢 NTS 神经-免疫反馈。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19 — 后续四大实验模块（湿实验设计）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5743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模块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核心方法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关键评分 / 终点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创新性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① 体内药效学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LD10/3 → LD50/3 + WBP 体描记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咳嗽次数/强度/吸气幅度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标准基线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② 外周机制验证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流式 + scRNA + Western + qPCR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Cx3cr1+ Mo 数量, Cx3cr1/Klf2/Arrb1 表达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Mo 单细胞验证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③ 中枢放大验证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多色 IHC + Luminex + 磷酸化通路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NTS Tac1+ ↔ Cx3cr1+ 信号通路, IL-6/TNF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NTS 区域通讯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④ 化学遗传学体内验证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DREADDs + Tac1-Cre + AAV-DIO-hM4Di + i.p. CNO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抑制 Tac1+ → 咳嗽是否被阻断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本项目最大创新点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26060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模块 ④ — 黄金标准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AAV1-DIO-hM4D(Gi)-mCherry → Tac1-Cre 小鼠 NTS, i.p. CNO 抑制 Tac1+ 神经元活性 → 直接因果性证明 NTS Tac1+ 是流感咳嗽的中枢驱动节点。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20 — 创新性 + 可行性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创新性 (4 维)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5743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5A9E"/>
                </a:solidFill>
                <a:latin typeface="PingFang SC"/>
              </a:rPr>
              <a:t>1.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跨学科理论框架 — "外周肺-迷走-脑干"轴的完整刻画 (而非局部气道)</a:t>
            </a:r>
          </a:p>
          <a:p>
            <a:r>
              <a:rPr sz="1300" b="1">
                <a:solidFill>
                  <a:srgbClr val="2A5A9E"/>
                </a:solidFill>
                <a:latin typeface="PingFang SC"/>
              </a:rPr>
              <a:t>2.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数据规模 + 多组学 — 5 个 GEO 数据集 + sc + bulk + LR 互作</a:t>
            </a:r>
          </a:p>
          <a:p>
            <a:r>
              <a:rPr sz="1300" b="1">
                <a:solidFill>
                  <a:srgbClr val="2A5A9E"/>
                </a:solidFill>
                <a:latin typeface="PingFang SC"/>
              </a:rPr>
              <a:t>3.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化学遗传学因果验证 — DREADDs Tac1+ 抑制是黄金标准, 国内同类研究稀缺</a:t>
            </a:r>
          </a:p>
          <a:p>
            <a:r>
              <a:rPr sz="1300" b="1">
                <a:solidFill>
                  <a:srgbClr val="2A5A9E"/>
                </a:solidFill>
                <a:latin typeface="PingFang SC"/>
              </a:rPr>
              <a:t>4.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中医-神经免疫学融合 — 莲花清瘟多靶点 vs 现代神经免疫学环路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199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可行性 (4 维)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399"/>
            <a:ext cx="1145743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5A9E"/>
                </a:solidFill>
                <a:latin typeface="PingFang SC"/>
              </a:rPr>
              <a:t>1.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✅ 数据已就位 — 5 个 GEO + CellChatDB 全部下载, 流程跑通</a:t>
            </a:r>
          </a:p>
          <a:p>
            <a:r>
              <a:rPr sz="1300" b="1">
                <a:solidFill>
                  <a:srgbClr val="2A5A9E"/>
                </a:solidFill>
                <a:latin typeface="PingFang SC"/>
              </a:rPr>
              <a:t>2.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✅ 关键预实验已完成 — Mo 严选 58 + Cx3cr1 单细胞 RTX 通过 + NTS LR prob=0.602</a:t>
            </a:r>
          </a:p>
          <a:p>
            <a:r>
              <a:rPr sz="1300" b="1">
                <a:solidFill>
                  <a:srgbClr val="2A5A9E"/>
                </a:solidFill>
                <a:latin typeface="PingFang SC"/>
              </a:rPr>
              <a:t>3.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✅ 靶点优先级清晰 — A 档 (Cx3cr1/Cx3cl1) 直接进入湿实验验证</a:t>
            </a:r>
          </a:p>
          <a:p>
            <a:r>
              <a:rPr sz="1300" b="1">
                <a:solidFill>
                  <a:srgbClr val="2A5A9E"/>
                </a:solidFill>
                <a:latin typeface="PingFang SC"/>
              </a:rPr>
              <a:t>4.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⚠️ DREADDs 实验 — 需要 Tac1-Cre 小鼠系 + AAV 病毒制备 + 体描记设备 (需协作单位)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21 — 风险与限制 (透明声明)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5743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331470"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#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风险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严重度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1A3C6E"/>
                          </a:solidFill>
                          <a:latin typeface="PingFang SC"/>
                        </a:rPr>
                        <a:t>应对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3147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PingFang SC"/>
                        </a:rPr>
                        <a:t>GSE268741 单 GSM</a:t>
                      </a:r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 无生物学重复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寻找第 2 份独立 NTS sc 数据 (Allen Brain / 协作组)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CellChat v1→v3 是 post-hoc refinement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论文如实按时间顺序写 + IHC 蛋白染色独立验证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RTX 救援 28→1 衰减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仅 Cx3cr1 通过, 不宣称"58 全是 RTX 靶点"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5 cells StepA 候选两两交集=0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加做 within-cell rank sensitivity 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GSE161878 D-suffix 是推断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联系投稿者确认 + Supplementary 双版本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TX91 是带毒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Figure legend 必明确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NTS Cx3cr1+ pct=100% 是定义同义反复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PingFang SC"/>
                        </a:rPr>
                        <a:t>"operationally-defined pool"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5661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态度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主结论稳健 + 异常透明 + 路径清晰 → </a:t>
            </a:r>
            <a:r>
              <a:rPr sz="1400" b="1">
                <a:solidFill>
                  <a:srgbClr val="1A3C6E"/>
                </a:solidFill>
                <a:latin typeface="PingFang SC"/>
              </a:rPr>
              <a:t>A− 总评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Slide 22 — 总结 + 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三句话总结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5743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5A9E"/>
                </a:solidFill>
                <a:latin typeface="PingFang SC"/>
              </a:rPr>
              <a:t>1.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机制链已闭环</a:t>
            </a:r>
            <a:r>
              <a:rPr sz="1300" b="0">
                <a:solidFill>
                  <a:srgbClr val="444444"/>
                </a:solidFill>
                <a:latin typeface="PingFang SC"/>
              </a:rPr>
              <a:t>: 外周 Mo Cx3cr1 → vagus Cx3cl1 → NTS Tac1+ ↔ Cx3cr1+ 微胶质 → 咳嗽</a:t>
            </a:r>
          </a:p>
          <a:p>
            <a:r>
              <a:rPr sz="1300" b="1">
                <a:solidFill>
                  <a:srgbClr val="2A5A9E"/>
                </a:solidFill>
                <a:latin typeface="PingFang SC"/>
              </a:rPr>
              <a:t>2.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核心枢纽锁定</a:t>
            </a:r>
            <a:r>
              <a:rPr sz="1300" b="0">
                <a:solidFill>
                  <a:srgbClr val="444444"/>
                </a:solidFill>
                <a:latin typeface="PingFang SC"/>
              </a:rPr>
              <a:t>: Cx3cl1-Cx3cr1 信号轴 是干预的 single most actionable node</a:t>
            </a:r>
          </a:p>
          <a:p>
            <a:r>
              <a:rPr sz="1300" b="1">
                <a:solidFill>
                  <a:srgbClr val="2A5A9E"/>
                </a:solidFill>
                <a:latin typeface="PingFang SC"/>
              </a:rPr>
              <a:t>3. </a:t>
            </a:r>
            <a:r>
              <a:rPr sz="1300" b="1">
                <a:solidFill>
                  <a:srgbClr val="1A3C6E"/>
                </a:solidFill>
                <a:latin typeface="PingFang SC"/>
              </a:rPr>
              <a:t>下一步</a:t>
            </a:r>
            <a:r>
              <a:rPr sz="1300" b="0">
                <a:solidFill>
                  <a:srgbClr val="444444"/>
                </a:solidFill>
                <a:latin typeface="PingFang SC"/>
              </a:rPr>
              <a:t>: DREADDs Tac1+ 抑制 + 莲花清瘟多靶点干预 = 黄金标准 in vivo 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423159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已完成产出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 6 个数据集预处理 + DEA + 多组学整合; 14 个分析脚本; 36 张图 + 2 份完整报告; GitHub 项目 OptiSyn (commit `4431654`)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80359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C6E"/>
                </a:solidFill>
                <a:latin typeface="PingFang SC"/>
              </a:rPr>
              <a:t>讨论问题</a:t>
            </a:r>
            <a:r>
              <a:rPr sz="1400" b="0">
                <a:solidFill>
                  <a:srgbClr val="444444"/>
                </a:solidFill>
                <a:latin typeface="PingFang SC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37559"/>
            <a:ext cx="1145743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5A9E"/>
                </a:solidFill>
                <a:latin typeface="PingFang SC"/>
              </a:rPr>
              <a:t>1.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NTS 单 GSM 限制, 优先用 Allen Brain 还是再做一份独立 sc 实验?</a:t>
            </a:r>
          </a:p>
          <a:p>
            <a:r>
              <a:rPr sz="1300" b="1">
                <a:solidFill>
                  <a:srgbClr val="2A5A9E"/>
                </a:solidFill>
                <a:latin typeface="PingFang SC"/>
              </a:rPr>
              <a:t>2.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DREADDs 实验的 Tac1-Cre 小鼠系是否有现成协作单位?</a:t>
            </a:r>
          </a:p>
          <a:p>
            <a:r>
              <a:rPr sz="1300" b="1">
                <a:solidFill>
                  <a:srgbClr val="2A5A9E"/>
                </a:solidFill>
                <a:latin typeface="PingFang SC"/>
              </a:rPr>
              <a:t>3. </a:t>
            </a:r>
            <a:r>
              <a:rPr sz="1300" b="0">
                <a:solidFill>
                  <a:srgbClr val="444444"/>
                </a:solidFill>
                <a:latin typeface="PingFang SC"/>
              </a:rPr>
              <a:t>莲花清瘟"剂量爬升"实验设计 (LD10/3 vs LD50/3) 是否合理?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5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44444"/>
                </a:solidFill>
                <a:latin typeface="PingFang SC"/>
              </a:rPr>
              <a:t>致谢: 感谢导师指导 + 实验室同仁 + GEO 数据贡献者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